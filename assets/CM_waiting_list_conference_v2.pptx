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60" r:id="rId6"/>
    <p:sldId id="259" r:id="rId7"/>
    <p:sldId id="258" r:id="rId8"/>
    <p:sldId id="270" r:id="rId9"/>
    <p:sldId id="261" r:id="rId10"/>
    <p:sldId id="265" r:id="rId11"/>
    <p:sldId id="274" r:id="rId12"/>
    <p:sldId id="275" r:id="rId13"/>
    <p:sldId id="271" r:id="rId14"/>
    <p:sldId id="262" r:id="rId15"/>
    <p:sldId id="272" r:id="rId16"/>
    <p:sldId id="263" r:id="rId17"/>
    <p:sldId id="267" r:id="rId18"/>
    <p:sldId id="269" r:id="rId19"/>
    <p:sldId id="266" r:id="rId20"/>
    <p:sldId id="268" r:id="rId21"/>
    <p:sldId id="273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1474" autoAdjust="0"/>
  </p:normalViewPr>
  <p:slideViewPr>
    <p:cSldViewPr snapToGrid="0">
      <p:cViewPr varScale="1">
        <p:scale>
          <a:sx n="76" d="100"/>
          <a:sy n="76" d="100"/>
        </p:scale>
        <p:origin x="72" y="3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ris Mainey (Birmingham and Solihull ICB)" userId="83cb5dc8-9a09-4a44-9ce2-4fc25a6b0b82" providerId="ADAL" clId="{ABF359E8-F1E2-4D04-8F81-37D929959C58}"/>
    <pc:docChg chg="modSld sldOrd">
      <pc:chgData name="Chris Mainey (Birmingham and Solihull ICB)" userId="83cb5dc8-9a09-4a44-9ce2-4fc25a6b0b82" providerId="ADAL" clId="{ABF359E8-F1E2-4D04-8F81-37D929959C58}" dt="2026-09-17T07:20:19.286" v="0"/>
      <pc:docMkLst>
        <pc:docMk/>
      </pc:docMkLst>
      <pc:sldChg chg="ord">
        <pc:chgData name="Chris Mainey (Birmingham and Solihull ICB)" userId="83cb5dc8-9a09-4a44-9ce2-4fc25a6b0b82" providerId="ADAL" clId="{ABF359E8-F1E2-4D04-8F81-37D929959C58}" dt="2026-09-17T07:20:19.286" v="0"/>
        <pc:sldMkLst>
          <pc:docMk/>
          <pc:sldMk cId="545803536" sldId="272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22CC4DBE-5ED5-4C0A-8DD7-7C60DDB0B6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240528"/>
            <a:ext cx="12192000" cy="161747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5B190E8-B67A-4772-8975-0F037BFE7B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9213" y="1214438"/>
            <a:ext cx="10885353" cy="1526569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1DFAD3-1017-49C3-9717-062616DF2A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9213" y="2970271"/>
            <a:ext cx="9144000" cy="1655762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769DFC-1564-4F13-ADEB-F67ABA942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E7371-17C4-495B-88E9-370410A9B637}" type="datetimeFigureOut">
              <a:rPr lang="en-GB" smtClean="0"/>
              <a:t>17/09/2026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D71645-76C4-4749-BB5A-7B6A9BAD3D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23DC84-AA3F-43A4-973A-C7497DD122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039F106-1643-410E-9D6C-1969C1AF515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410430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205E81E5-36DC-4D19-8B66-C6A8205DA6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240528"/>
            <a:ext cx="12192000" cy="161747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0A67FC1-6390-4D6C-A114-269476E5DF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0B323E-CCA1-4594-8084-F666814964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3DFB81-38C7-4C75-ABFD-C03F01910C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E7371-17C4-495B-88E9-370410A9B637}" type="datetimeFigureOut">
              <a:rPr lang="en-GB" smtClean="0"/>
              <a:t>17/09/2026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E7E5A8-7326-4A8F-A2B7-B48D9440B9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9DB4-F2F2-40EA-AD50-D3AF6D8250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039F106-1643-410E-9D6C-1969C1AF515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95925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Placeholder 2 1">
            <a:extLst>
              <a:ext uri="{FF2B5EF4-FFF2-40B4-BE49-F238E27FC236}">
                <a16:creationId xmlns:a16="http://schemas.microsoft.com/office/drawing/2014/main" id="{26D2DFD4-F642-A440-B1F0-2620AEF64CB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1800" y="1973730"/>
            <a:ext cx="583184" cy="583184"/>
          </a:xfrm>
          <a:prstGeom prst="rect">
            <a:avLst/>
          </a:prstGeom>
          <a:solidFill>
            <a:schemeClr val="accent5"/>
          </a:solidFill>
        </p:spPr>
        <p:txBody>
          <a:bodyPr anchor="ctr" anchorCtr="1"/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7" name="Content Placeholder 2 1">
            <a:extLst>
              <a:ext uri="{FF2B5EF4-FFF2-40B4-BE49-F238E27FC236}">
                <a16:creationId xmlns:a16="http://schemas.microsoft.com/office/drawing/2014/main" id="{99CDD3E4-8913-2043-BB35-0E7898C4978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46712" y="1973730"/>
            <a:ext cx="10597585" cy="583184"/>
          </a:xfrm>
        </p:spPr>
        <p:txBody>
          <a:bodyPr anchor="ctr" anchorCtr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000"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9" name="Text Placeholder 2 2">
            <a:extLst>
              <a:ext uri="{FF2B5EF4-FFF2-40B4-BE49-F238E27FC236}">
                <a16:creationId xmlns:a16="http://schemas.microsoft.com/office/drawing/2014/main" id="{FC072391-927C-BA43-9C2E-BED85AF9716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39751" y="2812085"/>
            <a:ext cx="583184" cy="583184"/>
          </a:xfrm>
          <a:prstGeom prst="rect">
            <a:avLst/>
          </a:prstGeom>
          <a:solidFill>
            <a:srgbClr val="00A499"/>
          </a:solidFill>
        </p:spPr>
        <p:txBody>
          <a:bodyPr anchor="ctr" anchorCtr="1"/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9" name="Content Placeholder 2 2">
            <a:extLst>
              <a:ext uri="{FF2B5EF4-FFF2-40B4-BE49-F238E27FC236}">
                <a16:creationId xmlns:a16="http://schemas.microsoft.com/office/drawing/2014/main" id="{02305136-9E71-644A-BD89-21A609B35809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1154663" y="2812085"/>
            <a:ext cx="10597585" cy="583184"/>
          </a:xfrm>
        </p:spPr>
        <p:txBody>
          <a:bodyPr anchor="ctr" anchorCtr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000"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Text Placeholder 2 3">
            <a:extLst>
              <a:ext uri="{FF2B5EF4-FFF2-40B4-BE49-F238E27FC236}">
                <a16:creationId xmlns:a16="http://schemas.microsoft.com/office/drawing/2014/main" id="{F1FE5606-95D5-9F42-A84F-A418F6E7B1F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31799" y="3674832"/>
            <a:ext cx="591136" cy="591136"/>
          </a:xfrm>
          <a:prstGeom prst="rect">
            <a:avLst/>
          </a:prstGeom>
          <a:solidFill>
            <a:srgbClr val="78BE20"/>
          </a:solidFill>
        </p:spPr>
        <p:txBody>
          <a:bodyPr anchor="ctr" anchorCtr="1"/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03</a:t>
            </a:r>
          </a:p>
        </p:txBody>
      </p:sp>
      <p:sp>
        <p:nvSpPr>
          <p:cNvPr id="11" name="Content Placeholder 2 3">
            <a:extLst>
              <a:ext uri="{FF2B5EF4-FFF2-40B4-BE49-F238E27FC236}">
                <a16:creationId xmlns:a16="http://schemas.microsoft.com/office/drawing/2014/main" id="{178EADC8-EC77-784C-A0C1-49D958B7686D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1146711" y="3674832"/>
            <a:ext cx="10597585" cy="591136"/>
          </a:xfrm>
        </p:spPr>
        <p:txBody>
          <a:bodyPr anchor="ctr" anchorCtr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000"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1" name="Text Placeholder 2 4">
            <a:extLst>
              <a:ext uri="{FF2B5EF4-FFF2-40B4-BE49-F238E27FC236}">
                <a16:creationId xmlns:a16="http://schemas.microsoft.com/office/drawing/2014/main" id="{D090BC71-3F48-A040-B820-EFBF2778F74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31799" y="4534291"/>
            <a:ext cx="591136" cy="591136"/>
          </a:xfrm>
          <a:prstGeom prst="rect">
            <a:avLst/>
          </a:prstGeom>
          <a:solidFill>
            <a:srgbClr val="330072"/>
          </a:solidFill>
        </p:spPr>
        <p:txBody>
          <a:bodyPr anchor="ctr" anchorCtr="1"/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04</a:t>
            </a:r>
          </a:p>
        </p:txBody>
      </p:sp>
      <p:sp>
        <p:nvSpPr>
          <p:cNvPr id="13" name="Content Placeholder 2 4">
            <a:extLst>
              <a:ext uri="{FF2B5EF4-FFF2-40B4-BE49-F238E27FC236}">
                <a16:creationId xmlns:a16="http://schemas.microsoft.com/office/drawing/2014/main" id="{C5110AD0-4CD6-E548-92B5-8B3C68FB1351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1146711" y="4534291"/>
            <a:ext cx="10597585" cy="591136"/>
          </a:xfrm>
        </p:spPr>
        <p:txBody>
          <a:bodyPr anchor="ctr" anchorCtr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000"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2 5">
            <a:extLst>
              <a:ext uri="{FF2B5EF4-FFF2-40B4-BE49-F238E27FC236}">
                <a16:creationId xmlns:a16="http://schemas.microsoft.com/office/drawing/2014/main" id="{251BF3F3-DF80-E548-AD18-D4CA5EF5193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31799" y="5427735"/>
            <a:ext cx="591136" cy="591136"/>
          </a:xfrm>
          <a:prstGeom prst="rect">
            <a:avLst/>
          </a:prstGeom>
          <a:solidFill>
            <a:schemeClr val="accent2"/>
          </a:solidFill>
        </p:spPr>
        <p:txBody>
          <a:bodyPr anchor="ctr" anchorCtr="1"/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05</a:t>
            </a:r>
          </a:p>
        </p:txBody>
      </p:sp>
      <p:sp>
        <p:nvSpPr>
          <p:cNvPr id="14" name="Content Placeholder 2 5">
            <a:extLst>
              <a:ext uri="{FF2B5EF4-FFF2-40B4-BE49-F238E27FC236}">
                <a16:creationId xmlns:a16="http://schemas.microsoft.com/office/drawing/2014/main" id="{A9C40B59-5690-0B4D-BEF0-561F5CD5CF08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1146711" y="5427735"/>
            <a:ext cx="10597585" cy="591136"/>
          </a:xfrm>
        </p:spPr>
        <p:txBody>
          <a:bodyPr anchor="ctr" anchorCtr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000"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Slide Number Placeholder 5">
            <a:extLst>
              <a:ext uri="{FF2B5EF4-FFF2-40B4-BE49-F238E27FC236}">
                <a16:creationId xmlns:a16="http://schemas.microsoft.com/office/drawing/2014/main" id="{EB24C1FE-264D-7444-B7A1-C5C34FC559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43992" y="6422569"/>
            <a:ext cx="312579" cy="42984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37164D7-9B6A-1C43-ACF7-FB85B36CD2B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3" name="Footer Placeholder 4">
            <a:extLst>
              <a:ext uri="{FF2B5EF4-FFF2-40B4-BE49-F238E27FC236}">
                <a16:creationId xmlns:a16="http://schemas.microsoft.com/office/drawing/2014/main" id="{D26601BA-3031-664A-A796-4FEF4354D8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1999" y="6432765"/>
            <a:ext cx="10847982" cy="43542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Black Country Integrated Care Board 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1E1F320C-3C42-4E98-9A7B-670C894DED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9194" y="6021050"/>
            <a:ext cx="6022806" cy="799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81533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44AD5EBA-DEB1-4C12-A56B-9021AE0B2D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9194" y="6021050"/>
            <a:ext cx="6022806" cy="79902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1D32EA9-9B2C-47A0-974C-26C2B995C4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1E71D8-CE6A-42EC-B657-AFA8D3FE3F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558711"/>
            <a:ext cx="10477500" cy="36182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0EC292-88BD-414A-8D93-8DD28730C8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E7371-17C4-495B-88E9-370410A9B637}" type="datetimeFigureOut">
              <a:rPr lang="en-GB" smtClean="0"/>
              <a:t>17/09/2026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C7F02F-E492-429C-9317-B52867744F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A3FDEE-131A-4C3C-9BAC-46C90127D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039F106-1643-410E-9D6C-1969C1AF515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59078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44AD5EBA-DEB1-4C12-A56B-9021AE0B2D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9194" y="6021050"/>
            <a:ext cx="6022806" cy="79902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1D32EA9-9B2C-47A0-974C-26C2B995C4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1E71D8-CE6A-42EC-B657-AFA8D3FE3F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558711"/>
            <a:ext cx="5181600" cy="36182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C5A089-D925-4E0A-A3F0-984FDC25E6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558711"/>
            <a:ext cx="5181600" cy="36182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0EC292-88BD-414A-8D93-8DD28730C8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E7371-17C4-495B-88E9-370410A9B637}" type="datetimeFigureOut">
              <a:rPr lang="en-GB" smtClean="0"/>
              <a:t>17/09/2026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C7F02F-E492-429C-9317-B52867744F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A3FDEE-131A-4C3C-9BAC-46C90127D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039F106-1643-410E-9D6C-1969C1AF515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38108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BBEC007B-CD16-4AF7-AAFC-695887E152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14120"/>
            <a:ext cx="12192000" cy="161747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14295B1-9B8D-4BD9-B4BA-CEFC26E39D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752" y="1291338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7BA04EA-833A-436E-B142-EA0292ED4F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E7371-17C4-495B-88E9-370410A9B637}" type="datetimeFigureOut">
              <a:rPr lang="en-GB" smtClean="0"/>
              <a:t>17/09/2026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E874743-A475-4BB8-BAAF-8DF2CB094A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EAC049-3E27-4308-A235-95C472A668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039F106-1643-410E-9D6C-1969C1AF515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16326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5969E246-3607-4E4F-AD73-B10733384F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14120"/>
            <a:ext cx="12192000" cy="1617472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3C7390-7BD0-4CB7-8629-B41BD89708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E7371-17C4-495B-88E9-370410A9B637}" type="datetimeFigureOut">
              <a:rPr lang="en-GB" smtClean="0"/>
              <a:t>17/09/2026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ADD01CD-9C41-4B9C-ACA6-633F24A0E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08A0CB-17EA-403D-9D5F-F53CA2A4EF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039F106-1643-410E-9D6C-1969C1AF515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831961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733D3A-AB61-48D2-982B-7BF6D52939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6661" y="1197033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EB6A28-8145-41CA-A15F-90F7018EFC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6761" y="122078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99D28A-56D1-4102-9307-B8BE18EACE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E7371-17C4-495B-88E9-370410A9B637}" type="datetimeFigureOut">
              <a:rPr lang="en-GB" smtClean="0"/>
              <a:t>17/09/2026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06E19D-BB5F-4541-B128-FF2DA2E09A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3C92B5-D576-4EDC-A009-6CC566CD99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039F106-1643-410E-9D6C-1969C1AF5157}" type="slidenum">
              <a:rPr lang="en-GB" smtClean="0"/>
              <a:t>‹#›</a:t>
            </a:fld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79C67E2-0732-42F9-90ED-7077FB3D08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9194" y="6021050"/>
            <a:ext cx="6022806" cy="799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26805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8839439-A649-4E9C-87ED-BDB2B065B9C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197033"/>
            <a:ext cx="6172200" cy="466401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9F4B4F-1124-4C97-9ED6-E630582FF9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E7371-17C4-495B-88E9-370410A9B637}" type="datetimeFigureOut">
              <a:rPr lang="en-GB" smtClean="0"/>
              <a:t>17/09/2026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AD13FC-7B96-428A-A50A-47B53C9A22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BFE069-FB25-44AE-8B05-880DA6C277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039F106-1643-410E-9D6C-1969C1AF5157}" type="slidenum">
              <a:rPr lang="en-GB" smtClean="0"/>
              <a:t>‹#›</a:t>
            </a:fld>
            <a:endParaRPr lang="en-GB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5EB75E10-264F-4ED5-9C2B-1217F48919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6661" y="1197033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F57362F-7F2A-4A10-8D5A-B1FBDACE70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9194" y="6021050"/>
            <a:ext cx="6022806" cy="799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11535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F79A4B-76D0-4456-9692-4B6CFBE30F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16871-B6D9-48A0-B859-40E844B2DD10}" type="datetimeFigureOut">
              <a:rPr lang="en-GB" smtClean="0"/>
              <a:t>17/09/2026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27FABE-5011-424D-B32B-D82A272562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F5CB6D-9C74-4850-9F54-DF53C4E78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35587-1894-40BF-AED8-0CE051A8231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896162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5B72F4-42D8-4565-9F1D-2E404FEF72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D39203C-A502-4D37-B894-147405CB02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E7371-17C4-495B-88E9-370410A9B637}" type="datetimeFigureOut">
              <a:rPr lang="en-GB" smtClean="0"/>
              <a:t>17/09/2026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7583DC-8139-441F-9044-522AAA7837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E621532-2AE9-47C7-8E0E-7FD9307C0A5F}"/>
              </a:ext>
            </a:extLst>
          </p:cNvPr>
          <p:cNvSpPr/>
          <p:nvPr userDrawn="1"/>
        </p:nvSpPr>
        <p:spPr>
          <a:xfrm>
            <a:off x="6323527" y="2859110"/>
            <a:ext cx="5005051" cy="3015097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470275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D9AF27-D100-4978-B549-A92E6F0261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EDB733-BE87-43D6-B7B2-4A0C15D6A5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E7371-17C4-495B-88E9-370410A9B637}" type="datetimeFigureOut">
              <a:rPr lang="en-GB" smtClean="0"/>
              <a:t>17/09/2026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B13F43-2BF2-4AD6-ADD9-7AAFE2772D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A7DA3152-DA6E-46A8-9491-DBAF41CDA085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637698922"/>
              </p:ext>
            </p:extLst>
          </p:nvPr>
        </p:nvGraphicFramePr>
        <p:xfrm>
          <a:off x="903668" y="2999226"/>
          <a:ext cx="10515603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2229">
                  <a:extLst>
                    <a:ext uri="{9D8B030D-6E8A-4147-A177-3AD203B41FA5}">
                      <a16:colId xmlns:a16="http://schemas.microsoft.com/office/drawing/2014/main" val="2678116539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4127950705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3956017675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1366909858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3300300111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3800840056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4371704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93555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61502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78617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37541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47193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46965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3731703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3C7390-7BD0-4CB7-8629-B41BD89708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E7371-17C4-495B-88E9-370410A9B637}" type="datetimeFigureOut">
              <a:rPr lang="en-GB" smtClean="0"/>
              <a:t>17/09/2026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ADD01CD-9C41-4B9C-ACA6-633F24A0E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08A0CB-17EA-403D-9D5F-F53CA2A4EF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039F106-1643-410E-9D6C-1969C1AF5157}" type="slidenum">
              <a:rPr lang="en-GB" smtClean="0"/>
              <a:t>‹#›</a:t>
            </a:fld>
            <a:endParaRPr lang="en-GB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F31E3BA9-6CB4-513A-1235-FF548AD7B5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33149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C5A85B7-F6C4-C4E1-1AB9-36C279B283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558711"/>
            <a:ext cx="5181600" cy="36182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FFC3FC0E-13BE-57DF-AEDD-D61EE13529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558711"/>
            <a:ext cx="5181600" cy="36182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199809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0DC46B4-5112-4AF8-8396-0953D9510A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3314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9FED5F-9780-49A6-A722-49BFF51348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864497"/>
            <a:ext cx="10515600" cy="33124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3DFAAB-A489-4D22-8135-8D8D46C16F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1E7371-17C4-495B-88E9-370410A9B637}" type="datetimeFigureOut">
              <a:rPr lang="en-GB" smtClean="0"/>
              <a:t>17/09/2026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7E38EC-FA55-455C-A40A-6BA31F67A1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F25B423-686B-4041-ACA7-8E63162216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470" y="280990"/>
            <a:ext cx="3048220" cy="74314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51F4ED5-613F-4AC7-91EA-F5E03ED954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3045" y="285378"/>
            <a:ext cx="1737221" cy="742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12227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8" r:id="rId3"/>
    <p:sldLayoutId id="2147483664" r:id="rId4"/>
    <p:sldLayoutId id="2147483652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2" r:id="rId11"/>
    <p:sldLayoutId id="2147483661" r:id="rId12"/>
    <p:sldLayoutId id="214748366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b="1" kern="1200">
          <a:solidFill>
            <a:schemeClr val="accent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c.mainey1@nhs.net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github.com/nhs-r-community/NHSRwaitinglist" TargetMode="Externa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gif"/><Relationship Id="rId2" Type="http://schemas.openxmlformats.org/officeDocument/2006/relationships/image" Target="../media/image11.gif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sv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BBCS-PHI/BSOLwaitinglist" TargetMode="Externa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BBCS-PHI/BSOLwaitinglist" TargetMode="Externa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1F7382-27A9-40CD-BF7E-2160C43E69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4325" y="1281113"/>
            <a:ext cx="11687175" cy="1526569"/>
          </a:xfrm>
        </p:spPr>
        <p:txBody>
          <a:bodyPr/>
          <a:lstStyle/>
          <a:p>
            <a:r>
              <a:rPr lang="en-GB" sz="3500" i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Using Queuing Theory and Simulation in NHS Planning:</a:t>
            </a:r>
            <a:br>
              <a:rPr lang="en-GB" sz="3600" b="0" i="1" dirty="0"/>
            </a:br>
            <a:r>
              <a:rPr lang="en-GB" sz="2400" b="0" i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Applying the </a:t>
            </a:r>
            <a:r>
              <a:rPr lang="en-GB" sz="2400" b="0" i="1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NHSRWaitinglist</a:t>
            </a:r>
            <a:r>
              <a:rPr lang="en-GB" sz="2400" b="0" i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 R Package</a:t>
            </a:r>
            <a:endParaRPr lang="en-GB" sz="3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EF9B279-FA60-438D-B10E-AC4E3DB1CC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5363" y="3236971"/>
            <a:ext cx="9144000" cy="1655762"/>
          </a:xfrm>
        </p:spPr>
        <p:txBody>
          <a:bodyPr>
            <a:normAutofit/>
          </a:bodyPr>
          <a:lstStyle/>
          <a:p>
            <a:r>
              <a:rPr lang="en-GB" sz="2000" dirty="0"/>
              <a:t>Chris Mainey</a:t>
            </a:r>
          </a:p>
          <a:p>
            <a:r>
              <a:rPr lang="en-GB" sz="2000" dirty="0"/>
              <a:t>Head of Data Science</a:t>
            </a:r>
          </a:p>
          <a:p>
            <a:r>
              <a:rPr lang="en-GB" sz="2000" dirty="0"/>
              <a:t>Birmingham, Black Country and Solihull ICB Cluster</a:t>
            </a:r>
          </a:p>
          <a:p>
            <a:r>
              <a:rPr lang="en-GB" sz="2000" dirty="0">
                <a:hlinkClick r:id="rId2"/>
              </a:rPr>
              <a:t>c.mainey1@nhs.net</a:t>
            </a:r>
            <a:r>
              <a:rPr lang="en-GB" sz="2000" dirty="0"/>
              <a:t>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663807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A53E1-19DD-44C1-9579-7E4ECE5D4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9277" y="1233150"/>
            <a:ext cx="10515600" cy="929026"/>
          </a:xfrm>
        </p:spPr>
        <p:txBody>
          <a:bodyPr/>
          <a:lstStyle/>
          <a:p>
            <a:r>
              <a:rPr lang="en-GB" dirty="0" err="1"/>
              <a:t>NHSRwaitinglist</a:t>
            </a:r>
            <a:r>
              <a:rPr lang="en-GB" dirty="0"/>
              <a:t>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D6570F-3612-4A10-8EA3-2CB31DE25B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247901"/>
            <a:ext cx="5181600" cy="3929062"/>
          </a:xfrm>
        </p:spPr>
        <p:txBody>
          <a:bodyPr>
            <a:normAutofit/>
          </a:bodyPr>
          <a:lstStyle/>
          <a:p>
            <a:r>
              <a:rPr lang="en-GB" sz="2600" dirty="0"/>
              <a:t>R programming language library</a:t>
            </a:r>
          </a:p>
          <a:p>
            <a:r>
              <a:rPr lang="en-GB" sz="2600" dirty="0"/>
              <a:t>Free, Open-Source</a:t>
            </a:r>
          </a:p>
          <a:p>
            <a:r>
              <a:rPr lang="en-GB" sz="2600" dirty="0"/>
              <a:t>Geared at NHS application</a:t>
            </a:r>
          </a:p>
          <a:p>
            <a:r>
              <a:rPr lang="en-GB" sz="2600" dirty="0"/>
              <a:t>Easy application of principles in Prof Neil Walton’s tutorial paper and seminars:</a:t>
            </a:r>
          </a:p>
          <a:p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DCE837-5360-486B-942D-4B61AE70D2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67524" y="4391025"/>
            <a:ext cx="4951711" cy="1619250"/>
          </a:xfrm>
        </p:spPr>
        <p:txBody>
          <a:bodyPr>
            <a:normAutofit/>
          </a:bodyPr>
          <a:lstStyle/>
          <a:p>
            <a:r>
              <a:rPr lang="en-GB" sz="2400" dirty="0"/>
              <a:t>Several releases so far</a:t>
            </a:r>
          </a:p>
          <a:p>
            <a:r>
              <a:rPr lang="en-GB" sz="2400" dirty="0"/>
              <a:t>Published on ‘CRAN’</a:t>
            </a:r>
          </a:p>
          <a:p>
            <a:r>
              <a:rPr lang="en-GB" sz="2400" dirty="0"/>
              <a:t>3,574 downloads from CRAN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A6B9E4F-A90B-E93B-E2CD-68DD200C67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0150" y="1610513"/>
            <a:ext cx="1933925" cy="193392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7C6C2B3-3CCE-2D24-1E2D-D223699C95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8005" y="4672668"/>
            <a:ext cx="2059497" cy="2059497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0D49A8E-2E7F-4B1F-C276-9136A8405FAB}"/>
              </a:ext>
            </a:extLst>
          </p:cNvPr>
          <p:cNvSpPr txBox="1"/>
          <p:nvPr/>
        </p:nvSpPr>
        <p:spPr>
          <a:xfrm>
            <a:off x="9821586" y="2651358"/>
            <a:ext cx="22002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Package website</a:t>
            </a:r>
          </a:p>
        </p:txBody>
      </p:sp>
    </p:spTree>
    <p:extLst>
      <p:ext uri="{BB962C8B-B14F-4D97-AF65-F5344CB8AC3E}">
        <p14:creationId xmlns:p14="http://schemas.microsoft.com/office/powerpoint/2010/main" val="32428633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9D6D3B-B813-4052-9DD8-B48DB63FB1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583026-FE54-B495-0BED-AFA2AFCDD54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GB" dirty="0"/>
              <a:t>Functions include:</a:t>
            </a:r>
          </a:p>
          <a:p>
            <a:pPr lvl="1"/>
            <a:r>
              <a:rPr lang="en-GB" dirty="0"/>
              <a:t>WL summary &amp; calculations</a:t>
            </a:r>
          </a:p>
          <a:p>
            <a:pPr lvl="1"/>
            <a:r>
              <a:rPr lang="en-GB" dirty="0"/>
              <a:t>Queue load and </a:t>
            </a:r>
          </a:p>
          <a:p>
            <a:pPr lvl="1"/>
            <a:r>
              <a:rPr lang="en-GB" dirty="0"/>
              <a:t>Target queue, capacity calculations</a:t>
            </a:r>
          </a:p>
          <a:p>
            <a:pPr lvl="1"/>
            <a:r>
              <a:rPr lang="en-GB" dirty="0"/>
              <a:t>Relief capacity calculation</a:t>
            </a:r>
          </a:p>
          <a:p>
            <a:pPr lvl="1"/>
            <a:r>
              <a:rPr lang="en-GB" dirty="0"/>
              <a:t>Simple simulator for generating WL data…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7ED3B4B-4ED9-C03F-2063-9875A16210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0429" y="1423805"/>
            <a:ext cx="5932534" cy="4165145"/>
          </a:xfrm>
          <a:prstGeom prst="rect">
            <a:avLst/>
          </a:prstGeom>
          <a:ln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46838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2714AC-E61F-41C4-BD99-C14F1B8E82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Arial"/>
                <a:cs typeface="Arial"/>
              </a:rPr>
              <a:t>Get involved!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C00680-8FA6-3E78-1F5C-612E13A812FE}"/>
              </a:ext>
            </a:extLst>
          </p:cNvPr>
          <p:cNvSpPr txBox="1">
            <a:spLocks/>
          </p:cNvSpPr>
          <p:nvPr/>
        </p:nvSpPr>
        <p:spPr>
          <a:xfrm>
            <a:off x="719213" y="2438400"/>
            <a:ext cx="5186287" cy="218763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Free &amp; Open-Source</a:t>
            </a:r>
          </a:p>
          <a:p>
            <a:r>
              <a:rPr lang="en-GB" dirty="0"/>
              <a:t>Code on </a:t>
            </a:r>
            <a:r>
              <a:rPr lang="en-GB" dirty="0">
                <a:hlinkClick r:id="rId2"/>
              </a:rPr>
              <a:t>GitHub</a:t>
            </a:r>
            <a:endParaRPr lang="en-GB" dirty="0"/>
          </a:p>
          <a:p>
            <a:r>
              <a:rPr lang="en-GB" dirty="0"/>
              <a:t>Relies on ‘free time’ at present</a:t>
            </a:r>
          </a:p>
          <a:p>
            <a:r>
              <a:rPr lang="en-GB" dirty="0"/>
              <a:t>Not just coders: </a:t>
            </a:r>
          </a:p>
          <a:p>
            <a:pPr lvl="1"/>
            <a:r>
              <a:rPr lang="en-GB" dirty="0"/>
              <a:t>people with questions</a:t>
            </a:r>
          </a:p>
          <a:p>
            <a:pPr lvl="1"/>
            <a:r>
              <a:rPr lang="en-GB" dirty="0"/>
              <a:t>opinions on design or application</a:t>
            </a:r>
          </a:p>
          <a:p>
            <a:pPr lvl="1"/>
            <a:r>
              <a:rPr lang="en-GB" dirty="0"/>
              <a:t>Bug reports / fixes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C764511-BB7B-8C8F-0A23-524FBAFD15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3673" y="1092811"/>
            <a:ext cx="6008594" cy="334557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A41E31A-632B-5331-C4FB-3F8AE6C157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2370" y="4744095"/>
            <a:ext cx="1883587" cy="1883587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1125894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A189292-4A05-0A47-83D3-E6FEDE30CC8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Application in BBCS ICB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10B8F97A-F399-0475-14BF-4F38E5EC2DF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b="1" i="1" dirty="0"/>
              <a:t>How much elective activity should we commission?</a:t>
            </a:r>
          </a:p>
        </p:txBody>
      </p:sp>
    </p:spTree>
    <p:extLst>
      <p:ext uri="{BB962C8B-B14F-4D97-AF65-F5344CB8AC3E}">
        <p14:creationId xmlns:p14="http://schemas.microsoft.com/office/powerpoint/2010/main" val="23744391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C2403FD-7F3F-D18F-BE6A-7FB02FB682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4400" dirty="0"/>
              <a:t>Methods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03783F9-9B8A-0200-6C26-C19F5F0E8E2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GB" b="1" dirty="0"/>
              <a:t>Forecasting:</a:t>
            </a:r>
          </a:p>
          <a:p>
            <a:pPr lvl="1">
              <a:lnSpc>
                <a:spcPct val="120000"/>
              </a:lnSpc>
            </a:pPr>
            <a:r>
              <a:rPr lang="en-GB" dirty="0"/>
              <a:t>“Naïve,” averaged or complex</a:t>
            </a:r>
          </a:p>
          <a:p>
            <a:pPr lvl="1">
              <a:lnSpc>
                <a:spcPct val="120000"/>
              </a:lnSpc>
            </a:pPr>
            <a:r>
              <a:rPr lang="en-GB" dirty="0"/>
              <a:t>Uses past data point to predict future</a:t>
            </a:r>
          </a:p>
          <a:p>
            <a:pPr lvl="1"/>
            <a:endParaRPr lang="en-GB" dirty="0"/>
          </a:p>
          <a:p>
            <a:r>
              <a:rPr lang="en-GB" dirty="0"/>
              <a:t>Does not factor targets</a:t>
            </a:r>
          </a:p>
          <a:p>
            <a:endParaRPr lang="en-GB" dirty="0"/>
          </a:p>
          <a:p>
            <a:r>
              <a:rPr lang="en-GB" dirty="0"/>
              <a:t>Does not factor sustainable WL</a:t>
            </a:r>
          </a:p>
          <a:p>
            <a:endParaRPr lang="en-GB" dirty="0"/>
          </a:p>
          <a:p>
            <a:r>
              <a:rPr lang="en-GB" dirty="0"/>
              <a:t>Not driven by population change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80967D8-3BEC-E8E5-24E5-8E2C74A961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558711"/>
            <a:ext cx="5181600" cy="3717802"/>
          </a:xfrm>
        </p:spPr>
        <p:txBody>
          <a:bodyPr>
            <a:normAutofit fontScale="85000" lnSpcReduction="10000"/>
          </a:bodyPr>
          <a:lstStyle/>
          <a:p>
            <a:r>
              <a:rPr lang="en-GB" b="1" dirty="0"/>
              <a:t>Simulation</a:t>
            </a:r>
          </a:p>
          <a:p>
            <a:pPr lvl="1">
              <a:lnSpc>
                <a:spcPct val="120000"/>
              </a:lnSpc>
            </a:pPr>
            <a:r>
              <a:rPr lang="en-GB" dirty="0"/>
              <a:t>“What if” analysis, using past patterns plus assumptions.</a:t>
            </a:r>
          </a:p>
          <a:p>
            <a:pPr lvl="1">
              <a:lnSpc>
                <a:spcPct val="120000"/>
              </a:lnSpc>
            </a:pPr>
            <a:r>
              <a:rPr lang="en-GB" dirty="0"/>
              <a:t>Driven by distributions and can be stochastic (allowing uncertainty)</a:t>
            </a:r>
          </a:p>
          <a:p>
            <a:pPr lvl="1"/>
            <a:endParaRPr lang="en-GB" dirty="0"/>
          </a:p>
          <a:p>
            <a:r>
              <a:rPr lang="en-GB" dirty="0"/>
              <a:t>Requires explicit assumptions</a:t>
            </a:r>
          </a:p>
          <a:p>
            <a:endParaRPr lang="en-GB" dirty="0"/>
          </a:p>
          <a:p>
            <a:r>
              <a:rPr lang="en-GB" dirty="0"/>
              <a:t>Should be run as Monte Carlo</a:t>
            </a:r>
          </a:p>
        </p:txBody>
      </p:sp>
    </p:spTree>
    <p:extLst>
      <p:ext uri="{BB962C8B-B14F-4D97-AF65-F5344CB8AC3E}">
        <p14:creationId xmlns:p14="http://schemas.microsoft.com/office/powerpoint/2010/main" val="5210432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9FC0B1-8FF4-4A45-7E1B-9D6444BDF0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Model foundations (1)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23F8D0-5A9D-E3F7-0A2A-904917432EE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Single compartment model:</a:t>
            </a:r>
          </a:p>
          <a:p>
            <a:pPr lvl="1"/>
            <a:r>
              <a:rPr lang="en-GB" dirty="0"/>
              <a:t>Consider joining and leaving pathway</a:t>
            </a:r>
          </a:p>
          <a:p>
            <a:pPr lvl="1"/>
            <a:r>
              <a:rPr lang="en-GB" dirty="0"/>
              <a:t>“M/M/1” queue:</a:t>
            </a:r>
          </a:p>
          <a:p>
            <a:pPr lvl="1"/>
            <a:r>
              <a:rPr lang="en-GB" dirty="0"/>
              <a:t>Arrivals are Poisson distributed</a:t>
            </a:r>
          </a:p>
          <a:p>
            <a:pPr lvl="1"/>
            <a:r>
              <a:rPr lang="en-GB" dirty="0"/>
              <a:t>Service time is exponentially distributed</a:t>
            </a:r>
          </a:p>
          <a:p>
            <a:pPr lvl="1"/>
            <a:r>
              <a:rPr lang="en-GB" dirty="0"/>
              <a:t>Over-simplification</a:t>
            </a:r>
          </a:p>
          <a:p>
            <a:pPr lvl="1"/>
            <a:endParaRPr lang="en-GB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B2D35B4-0ED6-29CE-61DF-D6B54E14F340}"/>
              </a:ext>
            </a:extLst>
          </p:cNvPr>
          <p:cNvSpPr/>
          <p:nvPr/>
        </p:nvSpPr>
        <p:spPr>
          <a:xfrm>
            <a:off x="8394605" y="3477772"/>
            <a:ext cx="1780674" cy="107940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Waiting list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92BDEBF-C087-D23A-70DD-A8D114D7E2AF}"/>
              </a:ext>
            </a:extLst>
          </p:cNvPr>
          <p:cNvCxnSpPr>
            <a:cxnSpLocks/>
            <a:endCxn id="7" idx="1"/>
          </p:cNvCxnSpPr>
          <p:nvPr/>
        </p:nvCxnSpPr>
        <p:spPr>
          <a:xfrm>
            <a:off x="6837028" y="4017475"/>
            <a:ext cx="1557577" cy="0"/>
          </a:xfrm>
          <a:prstGeom prst="straightConnector1">
            <a:avLst/>
          </a:prstGeom>
          <a:ln w="4445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836AEA4-3CEA-A8D8-C0BD-9733E9A90EF8}"/>
              </a:ext>
            </a:extLst>
          </p:cNvPr>
          <p:cNvCxnSpPr>
            <a:cxnSpLocks/>
          </p:cNvCxnSpPr>
          <p:nvPr/>
        </p:nvCxnSpPr>
        <p:spPr>
          <a:xfrm>
            <a:off x="10191562" y="4052429"/>
            <a:ext cx="1343300" cy="0"/>
          </a:xfrm>
          <a:prstGeom prst="straightConnector1">
            <a:avLst/>
          </a:prstGeom>
          <a:ln w="4445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D11EDC2F-BD72-07FE-8724-246F35CC09E4}"/>
              </a:ext>
            </a:extLst>
          </p:cNvPr>
          <p:cNvSpPr txBox="1"/>
          <p:nvPr/>
        </p:nvSpPr>
        <p:spPr>
          <a:xfrm>
            <a:off x="6878972" y="2936147"/>
            <a:ext cx="135062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Referrals / Arrivals</a:t>
            </a:r>
          </a:p>
          <a:p>
            <a:pPr algn="ctr"/>
            <a:r>
              <a:rPr lang="en-GB" dirty="0"/>
              <a:t>(Demand)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F67E574-E28E-9833-4518-BA61D3473C31}"/>
              </a:ext>
            </a:extLst>
          </p:cNvPr>
          <p:cNvSpPr txBox="1"/>
          <p:nvPr/>
        </p:nvSpPr>
        <p:spPr>
          <a:xfrm>
            <a:off x="10286301" y="2954323"/>
            <a:ext cx="135062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Removals / Activity (Capacity)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A20ABA-F0CB-3686-0684-4C22F6B09F1D}"/>
              </a:ext>
            </a:extLst>
          </p:cNvPr>
          <p:cNvSpPr txBox="1"/>
          <p:nvPr/>
        </p:nvSpPr>
        <p:spPr>
          <a:xfrm>
            <a:off x="360727" y="6157519"/>
            <a:ext cx="53018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i="1" dirty="0"/>
              <a:t>“…Essentially, all models are wrong, but some are useful…” </a:t>
            </a:r>
          </a:p>
          <a:p>
            <a:r>
              <a:rPr lang="en-GB" sz="1600" i="1" dirty="0"/>
              <a:t>(paraphrase of Prof. George E.P. Box)</a:t>
            </a:r>
          </a:p>
        </p:txBody>
      </p:sp>
    </p:spTree>
    <p:extLst>
      <p:ext uri="{BB962C8B-B14F-4D97-AF65-F5344CB8AC3E}">
        <p14:creationId xmlns:p14="http://schemas.microsoft.com/office/powerpoint/2010/main" val="2670546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947DA1-BB32-A029-B824-E683C51B51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33149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GB" dirty="0"/>
              <a:t>Distribution of waiting list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36986679-972E-B430-4EBD-96655FD9639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032" y="2494703"/>
            <a:ext cx="5730035" cy="4054000"/>
          </a:xfrm>
          <a:prstGeom prst="rect">
            <a:avLst/>
          </a:prstGeom>
          <a:noFill/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235505-F660-E78A-818F-5BAF1D4B8E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776755"/>
            <a:ext cx="5181600" cy="3400207"/>
          </a:xfrm>
        </p:spPr>
        <p:txBody>
          <a:bodyPr>
            <a:normAutofit/>
          </a:bodyPr>
          <a:lstStyle/>
          <a:p>
            <a:r>
              <a:rPr lang="en-GB" sz="2400" dirty="0"/>
              <a:t>Average wait, and distribution linked.</a:t>
            </a:r>
          </a:p>
          <a:p>
            <a:endParaRPr lang="en-GB" sz="2400" dirty="0"/>
          </a:p>
          <a:p>
            <a:r>
              <a:rPr lang="en-GB" sz="2400" dirty="0"/>
              <a:t>Set probability, calculate average wait:</a:t>
            </a:r>
          </a:p>
          <a:p>
            <a:pPr lvl="1"/>
            <a:r>
              <a:rPr lang="en-GB" sz="2000" dirty="0"/>
              <a:t>‘Factor’ =  –ln(1-0.92) = 2.53</a:t>
            </a:r>
          </a:p>
          <a:p>
            <a:pPr lvl="1"/>
            <a:r>
              <a:rPr lang="en-GB" sz="2000" dirty="0"/>
              <a:t>Mean wait = Target / 2.53</a:t>
            </a:r>
          </a:p>
          <a:p>
            <a:pPr lvl="1"/>
            <a:r>
              <a:rPr lang="en-GB" sz="2000" dirty="0"/>
              <a:t>E.g. 18 / 2.53 = 7.13</a:t>
            </a:r>
          </a:p>
          <a:p>
            <a:pPr lvl="1"/>
            <a:endParaRPr lang="en-GB" dirty="0"/>
          </a:p>
          <a:p>
            <a:pPr lvl="1"/>
            <a:endParaRPr lang="en-GB" dirty="0"/>
          </a:p>
          <a:p>
            <a:endParaRPr lang="en-GB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8BCFAC2-9D83-94DF-5A7B-C31936709067}"/>
              </a:ext>
            </a:extLst>
          </p:cNvPr>
          <p:cNvSpPr txBox="1"/>
          <p:nvPr/>
        </p:nvSpPr>
        <p:spPr>
          <a:xfrm>
            <a:off x="0" y="6400799"/>
            <a:ext cx="550015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GB" sz="1200" dirty="0"/>
              <a:t>Understanding Waiting Lists Pressures</a:t>
            </a:r>
          </a:p>
          <a:p>
            <a:pPr fontAlgn="base"/>
            <a:r>
              <a:rPr lang="en-GB" sz="1200" dirty="0"/>
              <a:t>Kevin Fong, et al. </a:t>
            </a:r>
            <a:r>
              <a:rPr lang="en-GB" sz="1200" dirty="0" err="1"/>
              <a:t>medRxiv</a:t>
            </a:r>
            <a:r>
              <a:rPr lang="en-GB" sz="1200" dirty="0"/>
              <a:t> https://doi.org/10.1101/2022.08.23.22279117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456887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56CEA-37A9-ECA7-10E9-58E9706E97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Three useful formulae:</a:t>
            </a:r>
          </a:p>
        </p:txBody>
      </p:sp>
      <p:pic>
        <p:nvPicPr>
          <p:cNvPr id="5" name="Content Placeholder 4" descr="Embedded Image">
            <a:extLst>
              <a:ext uri="{FF2B5EF4-FFF2-40B4-BE49-F238E27FC236}">
                <a16:creationId xmlns:a16="http://schemas.microsoft.com/office/drawing/2014/main" id="{4A380C5F-9266-9069-16B2-EACFE5F8BF53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352616" y="3196962"/>
            <a:ext cx="5653433" cy="219927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BF86A8-4BDE-73D9-84D9-43DC9E02F14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/>
              <a:t>If we know WL and demand, can work out average waiting time.</a:t>
            </a:r>
          </a:p>
          <a:p>
            <a:endParaRPr lang="en-GB" dirty="0"/>
          </a:p>
          <a:p>
            <a:r>
              <a:rPr lang="en-GB" dirty="0"/>
              <a:t>What is our target queue size for the demand and target wait?</a:t>
            </a:r>
          </a:p>
          <a:p>
            <a:endParaRPr lang="en-GB" dirty="0"/>
          </a:p>
          <a:p>
            <a:r>
              <a:rPr lang="en-GB" dirty="0"/>
              <a:t>What capacity do we need to get there in a specific time?</a:t>
            </a:r>
          </a:p>
        </p:txBody>
      </p:sp>
      <p:pic>
        <p:nvPicPr>
          <p:cNvPr id="7" name="Picture 6" descr="Embedded Image">
            <a:extLst>
              <a:ext uri="{FF2B5EF4-FFF2-40B4-BE49-F238E27FC236}">
                <a16:creationId xmlns:a16="http://schemas.microsoft.com/office/drawing/2014/main" id="{283C601D-0B77-B09B-FDB0-EDF298B158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180" y="5364793"/>
            <a:ext cx="5571480" cy="399614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55264DE-667B-08B9-9913-6DB7AA4E770F}"/>
                  </a:ext>
                </a:extLst>
              </p:cNvPr>
              <p:cNvSpPr txBox="1"/>
              <p:nvPr/>
            </p:nvSpPr>
            <p:spPr>
              <a:xfrm>
                <a:off x="570640" y="4259179"/>
                <a:ext cx="4943261" cy="51860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𝑇𝑎𝑟𝑔𝑒𝑡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𝑄𝑢𝑒𝑢𝑒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𝑆𝑖𝑧𝑒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𝐷𝑒𝑚𝑎𝑛𝑑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× 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𝑇𝑎𝑟𝑔𝑒𝑡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𝑊𝑎𝑖𝑡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𝐹𝑎𝑐𝑡𝑜𝑟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55264DE-667B-08B9-9913-6DB7AA4E77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640" y="4259179"/>
                <a:ext cx="4943261" cy="51860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BB49C601-AE0C-76DC-69AC-A147B5F75DF6}"/>
              </a:ext>
            </a:extLst>
          </p:cNvPr>
          <p:cNvSpPr txBox="1"/>
          <p:nvPr/>
        </p:nvSpPr>
        <p:spPr>
          <a:xfrm>
            <a:off x="261257" y="6277046"/>
            <a:ext cx="550015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GB" sz="1200" dirty="0"/>
              <a:t>Understanding Waiting Lists Pressures</a:t>
            </a:r>
          </a:p>
          <a:p>
            <a:pPr fontAlgn="base"/>
            <a:r>
              <a:rPr lang="en-GB" sz="1200" dirty="0"/>
              <a:t>Kevin Fong, et al. </a:t>
            </a:r>
            <a:r>
              <a:rPr lang="en-GB" sz="1200" dirty="0" err="1"/>
              <a:t>medRxiv</a:t>
            </a:r>
            <a:r>
              <a:rPr lang="en-GB" sz="1200" dirty="0"/>
              <a:t> https://doi.org/10.1101/2022.08.23.22279117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104602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6546BC-C218-43C0-D340-1B1B25E690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55EA1B-CE5A-319B-CE4A-010A856F51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Model foundations (2)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4494C4-520A-C290-D7DC-B4A8A4AB88C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GB" sz="2700" dirty="0"/>
              <a:t>Take each provider’s ICB commissioned patients by TFC:</a:t>
            </a:r>
          </a:p>
          <a:p>
            <a:pPr lvl="1"/>
            <a:r>
              <a:rPr lang="en-GB" sz="2000" dirty="0"/>
              <a:t>Calculate queue size, average weekly demand and capacity</a:t>
            </a:r>
          </a:p>
          <a:p>
            <a:pPr lvl="1"/>
            <a:r>
              <a:rPr lang="en-GB" sz="2000" dirty="0"/>
              <a:t>Project forward with assumptions</a:t>
            </a:r>
          </a:p>
          <a:p>
            <a:pPr lvl="1"/>
            <a:r>
              <a:rPr lang="en-GB" sz="2000" dirty="0"/>
              <a:t>Calculate target queue size and relief capacity</a:t>
            </a:r>
          </a:p>
          <a:p>
            <a:pPr lvl="1"/>
            <a:r>
              <a:rPr lang="en-GB" sz="2000" dirty="0"/>
              <a:t>Run simulation modelling to verify and give uncertainty range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DBD37B-2C12-9FBA-6740-9C2919F8E3D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GB" sz="2700" dirty="0"/>
              <a:t>Take pathway projections for provider’s ICB commissioned patients, by TFC:</a:t>
            </a:r>
          </a:p>
          <a:p>
            <a:pPr lvl="1"/>
            <a:r>
              <a:rPr lang="en-GB" sz="2000" dirty="0"/>
              <a:t>Calculate average activity to close pathway by OP &amp; IP</a:t>
            </a:r>
          </a:p>
          <a:p>
            <a:pPr lvl="1"/>
            <a:r>
              <a:rPr lang="en-GB" sz="2000" dirty="0"/>
              <a:t>Multiply pathway projections by average activity.</a:t>
            </a:r>
          </a:p>
          <a:p>
            <a:pPr lvl="1"/>
            <a:r>
              <a:rPr lang="en-GB" sz="2000" dirty="0"/>
              <a:t>Apply 2026/27 tariff at 2025/26 data and calculate variance</a:t>
            </a:r>
          </a:p>
        </p:txBody>
      </p:sp>
    </p:spTree>
    <p:extLst>
      <p:ext uri="{BB962C8B-B14F-4D97-AF65-F5344CB8AC3E}">
        <p14:creationId xmlns:p14="http://schemas.microsoft.com/office/powerpoint/2010/main" val="7004778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96BDF1-A34A-7673-5EA0-5E8E628E3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6459" y="1102521"/>
            <a:ext cx="10515600" cy="1325563"/>
          </a:xfrm>
        </p:spPr>
        <p:txBody>
          <a:bodyPr/>
          <a:lstStyle/>
          <a:p>
            <a:r>
              <a:rPr lang="en-GB" sz="4000" dirty="0"/>
              <a:t>Waiting list simulation approach</a:t>
            </a:r>
          </a:p>
        </p:txBody>
      </p:sp>
      <p:pic>
        <p:nvPicPr>
          <p:cNvPr id="19" name="Graphic 18">
            <a:extLst>
              <a:ext uri="{FF2B5EF4-FFF2-40B4-BE49-F238E27FC236}">
                <a16:creationId xmlns:a16="http://schemas.microsoft.com/office/drawing/2014/main" id="{41FFBCF2-D891-5055-1468-6AC7EB3E519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2629301"/>
            <a:ext cx="12192000" cy="2624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73857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275EFC-2667-97F2-4CD9-F704DF7E0C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EC8C5-7DDB-78E7-ADE7-35922C532D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6459" y="1102521"/>
            <a:ext cx="10515600" cy="1325563"/>
          </a:xfrm>
        </p:spPr>
        <p:txBody>
          <a:bodyPr/>
          <a:lstStyle/>
          <a:p>
            <a:r>
              <a:rPr lang="en-GB" sz="4000" dirty="0"/>
              <a:t>Activity attribution approach</a:t>
            </a:r>
            <a:br>
              <a:rPr lang="en-GB" sz="4000" dirty="0"/>
            </a:br>
            <a:r>
              <a:rPr lang="en-GB" sz="2400" i="1" dirty="0">
                <a:solidFill>
                  <a:schemeClr val="tx1"/>
                </a:solidFill>
              </a:rPr>
              <a:t>(ICB commissioned patients only)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4D5BFE5-EA4C-DF43-5444-3A19D4F7A20B}"/>
              </a:ext>
            </a:extLst>
          </p:cNvPr>
          <p:cNvSpPr/>
          <p:nvPr/>
        </p:nvSpPr>
        <p:spPr>
          <a:xfrm>
            <a:off x="6157262" y="3088506"/>
            <a:ext cx="1605613" cy="81674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8227" cap="flat">
            <a:solidFill>
              <a:srgbClr val="000000"/>
            </a:solidFill>
            <a:prstDash val="solid"/>
            <a:miter/>
          </a:ln>
        </p:spPr>
        <p:txBody>
          <a:bodyPr anchor="ctr" anchorCtr="0"/>
          <a:lstStyle/>
          <a:p>
            <a:pPr algn="ctr"/>
            <a:r>
              <a:rPr lang="en-GB" sz="1100" dirty="0"/>
              <a:t>Apportion addition capacity requirement to providers base on pathway model *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ED7B301F-327A-F600-78C9-6EE21C796D9C}"/>
              </a:ext>
            </a:extLst>
          </p:cNvPr>
          <p:cNvSpPr/>
          <p:nvPr/>
        </p:nvSpPr>
        <p:spPr>
          <a:xfrm>
            <a:off x="1185212" y="3098031"/>
            <a:ext cx="1605613" cy="81674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8227" cap="flat">
            <a:solidFill>
              <a:srgbClr val="000000"/>
            </a:solidFill>
            <a:prstDash val="solid"/>
            <a:miter/>
          </a:ln>
        </p:spPr>
        <p:txBody>
          <a:bodyPr anchor="ctr" anchorCtr="0"/>
          <a:lstStyle/>
          <a:p>
            <a:pPr algn="ctr"/>
            <a:r>
              <a:rPr lang="en-GB" sz="1100" dirty="0"/>
              <a:t>Calculate 25/26 closed RTT pathways by provider and specialty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6CE532D2-E1E5-8179-A635-33D3B35C936D}"/>
              </a:ext>
            </a:extLst>
          </p:cNvPr>
          <p:cNvSpPr/>
          <p:nvPr/>
        </p:nvSpPr>
        <p:spPr>
          <a:xfrm>
            <a:off x="1128062" y="5098281"/>
            <a:ext cx="1672288" cy="807219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8227" cap="flat">
            <a:solidFill>
              <a:srgbClr val="000000"/>
            </a:solidFill>
            <a:prstDash val="solid"/>
            <a:miter/>
          </a:ln>
        </p:spPr>
        <p:txBody>
          <a:bodyPr anchor="ctr" anchorCtr="0"/>
          <a:lstStyle/>
          <a:p>
            <a:pPr algn="ctr"/>
            <a:r>
              <a:rPr lang="en-GB" sz="1100" dirty="0"/>
              <a:t>SUS 25/26 activity at POD by provider and specialty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909438DE-D916-738C-B58A-025561877563}"/>
              </a:ext>
            </a:extLst>
          </p:cNvPr>
          <p:cNvSpPr/>
          <p:nvPr/>
        </p:nvSpPr>
        <p:spPr>
          <a:xfrm>
            <a:off x="3633137" y="3105150"/>
            <a:ext cx="1738963" cy="8001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8227" cap="flat">
            <a:solidFill>
              <a:srgbClr val="000000"/>
            </a:solidFill>
            <a:prstDash val="solid"/>
            <a:miter/>
          </a:ln>
        </p:spPr>
        <p:txBody>
          <a:bodyPr anchor="ctr" anchorCtr="0"/>
          <a:lstStyle/>
          <a:p>
            <a:pPr algn="ctr"/>
            <a:r>
              <a:rPr lang="en-GB" sz="1100" dirty="0"/>
              <a:t>Calculate RTT pathways closed to SUS activity ratios (where RTT related)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15ECA7FF-64D9-668E-64B4-A29C8B3D0DEB}"/>
              </a:ext>
            </a:extLst>
          </p:cNvPr>
          <p:cNvSpPr/>
          <p:nvPr/>
        </p:nvSpPr>
        <p:spPr>
          <a:xfrm>
            <a:off x="3718862" y="5050656"/>
            <a:ext cx="1738963" cy="91199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8227" cap="flat">
            <a:solidFill>
              <a:srgbClr val="000000"/>
            </a:solidFill>
            <a:prstDash val="solid"/>
            <a:miter/>
          </a:ln>
        </p:spPr>
        <p:txBody>
          <a:bodyPr anchor="ctr" anchorCtr="0"/>
          <a:lstStyle/>
          <a:p>
            <a:pPr algn="ctr"/>
            <a:r>
              <a:rPr lang="en-GB" sz="1100" dirty="0"/>
              <a:t>25/26 SUS data is </a:t>
            </a:r>
            <a:r>
              <a:rPr lang="en-GB" sz="1100" dirty="0" err="1"/>
              <a:t>recosted</a:t>
            </a:r>
            <a:r>
              <a:rPr lang="en-GB" sz="1100" dirty="0"/>
              <a:t> at 26/27 tariff value</a:t>
            </a:r>
          </a:p>
          <a:p>
            <a:pPr algn="ctr"/>
            <a:r>
              <a:rPr lang="en-GB" sz="1100" dirty="0"/>
              <a:t>(latest value, but not including pay uplift)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126A796E-BEB1-27EA-A64C-17A9B9F11A63}"/>
              </a:ext>
            </a:extLst>
          </p:cNvPr>
          <p:cNvSpPr/>
          <p:nvPr/>
        </p:nvSpPr>
        <p:spPr>
          <a:xfrm>
            <a:off x="7690787" y="4288656"/>
            <a:ext cx="1605613" cy="81674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8227" cap="flat">
            <a:solidFill>
              <a:srgbClr val="000000"/>
            </a:solidFill>
            <a:prstDash val="solid"/>
            <a:miter/>
          </a:ln>
        </p:spPr>
        <p:txBody>
          <a:bodyPr anchor="ctr" anchorCtr="0"/>
          <a:lstStyle/>
          <a:p>
            <a:pPr algn="ctr"/>
            <a:r>
              <a:rPr lang="en-GB" sz="1100" dirty="0"/>
              <a:t>Activity requirement calculated as </a:t>
            </a:r>
            <a:r>
              <a:rPr lang="en-GB" sz="1100" dirty="0" err="1"/>
              <a:t>recosted</a:t>
            </a:r>
            <a:r>
              <a:rPr lang="en-GB" sz="1100" dirty="0"/>
              <a:t> activity at 100 + plus  additional capacity from pathway model</a:t>
            </a:r>
          </a:p>
        </p:txBody>
      </p:sp>
      <p:cxnSp>
        <p:nvCxnSpPr>
          <p:cNvPr id="21" name="Connector: Elbow 20">
            <a:extLst>
              <a:ext uri="{FF2B5EF4-FFF2-40B4-BE49-F238E27FC236}">
                <a16:creationId xmlns:a16="http://schemas.microsoft.com/office/drawing/2014/main" id="{DF68C669-DE82-ACE1-22F6-E5392E065573}"/>
              </a:ext>
            </a:extLst>
          </p:cNvPr>
          <p:cNvCxnSpPr>
            <a:cxnSpLocks/>
            <a:stCxn id="11" idx="3"/>
            <a:endCxn id="15" idx="1"/>
          </p:cNvCxnSpPr>
          <p:nvPr/>
        </p:nvCxnSpPr>
        <p:spPr>
          <a:xfrm flipV="1">
            <a:off x="2790825" y="3505200"/>
            <a:ext cx="842312" cy="1203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ctor: Elbow 22">
            <a:extLst>
              <a:ext uri="{FF2B5EF4-FFF2-40B4-BE49-F238E27FC236}">
                <a16:creationId xmlns:a16="http://schemas.microsoft.com/office/drawing/2014/main" id="{5D043B3B-BE42-1F68-B516-355E2F345FD8}"/>
              </a:ext>
            </a:extLst>
          </p:cNvPr>
          <p:cNvCxnSpPr>
            <a:cxnSpLocks/>
            <a:stCxn id="13" idx="0"/>
            <a:endCxn id="15" idx="2"/>
          </p:cNvCxnSpPr>
          <p:nvPr/>
        </p:nvCxnSpPr>
        <p:spPr>
          <a:xfrm rot="5400000" flipH="1" flipV="1">
            <a:off x="2636897" y="3232560"/>
            <a:ext cx="1193031" cy="253841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95E163BB-6162-FF79-53C6-C2ED5DAADE07}"/>
              </a:ext>
            </a:extLst>
          </p:cNvPr>
          <p:cNvCxnSpPr>
            <a:stCxn id="13" idx="3"/>
            <a:endCxn id="17" idx="1"/>
          </p:cNvCxnSpPr>
          <p:nvPr/>
        </p:nvCxnSpPr>
        <p:spPr>
          <a:xfrm>
            <a:off x="2800350" y="5501891"/>
            <a:ext cx="918512" cy="47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15081111-02F4-83DD-2884-28076B98D7CC}"/>
              </a:ext>
            </a:extLst>
          </p:cNvPr>
          <p:cNvCxnSpPr>
            <a:cxnSpLocks/>
            <a:endCxn id="9" idx="0"/>
          </p:cNvCxnSpPr>
          <p:nvPr/>
        </p:nvCxnSpPr>
        <p:spPr>
          <a:xfrm>
            <a:off x="6960069" y="2257425"/>
            <a:ext cx="0" cy="8310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nector: Elbow 37">
            <a:extLst>
              <a:ext uri="{FF2B5EF4-FFF2-40B4-BE49-F238E27FC236}">
                <a16:creationId xmlns:a16="http://schemas.microsoft.com/office/drawing/2014/main" id="{CBE40763-D008-886B-E888-40EBEE3C5E99}"/>
              </a:ext>
            </a:extLst>
          </p:cNvPr>
          <p:cNvCxnSpPr>
            <a:stCxn id="17" idx="3"/>
            <a:endCxn id="19" idx="1"/>
          </p:cNvCxnSpPr>
          <p:nvPr/>
        </p:nvCxnSpPr>
        <p:spPr>
          <a:xfrm flipV="1">
            <a:off x="5457825" y="4697028"/>
            <a:ext cx="2232962" cy="809625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0A99BA11-732B-2F13-8F55-915B3EC79F7E}"/>
              </a:ext>
            </a:extLst>
          </p:cNvPr>
          <p:cNvCxnSpPr>
            <a:stCxn id="15" idx="3"/>
            <a:endCxn id="9" idx="1"/>
          </p:cNvCxnSpPr>
          <p:nvPr/>
        </p:nvCxnSpPr>
        <p:spPr>
          <a:xfrm flipV="1">
            <a:off x="5372100" y="3496878"/>
            <a:ext cx="785162" cy="83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nector: Elbow 46">
            <a:extLst>
              <a:ext uri="{FF2B5EF4-FFF2-40B4-BE49-F238E27FC236}">
                <a16:creationId xmlns:a16="http://schemas.microsoft.com/office/drawing/2014/main" id="{B2325887-1FEB-DEF2-4F51-828A0C438E96}"/>
              </a:ext>
            </a:extLst>
          </p:cNvPr>
          <p:cNvCxnSpPr>
            <a:stCxn id="9" idx="3"/>
            <a:endCxn id="19" idx="0"/>
          </p:cNvCxnSpPr>
          <p:nvPr/>
        </p:nvCxnSpPr>
        <p:spPr>
          <a:xfrm>
            <a:off x="7762875" y="3496878"/>
            <a:ext cx="730719" cy="791778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EACF0F7-163E-1E41-EB0D-6958B3CB9D50}"/>
              </a:ext>
            </a:extLst>
          </p:cNvPr>
          <p:cNvSpPr/>
          <p:nvPr/>
        </p:nvSpPr>
        <p:spPr>
          <a:xfrm>
            <a:off x="9929162" y="4279130"/>
            <a:ext cx="1624663" cy="845319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8227" cap="flat">
            <a:solidFill>
              <a:srgbClr val="000000"/>
            </a:solidFill>
            <a:prstDash val="solid"/>
            <a:miter/>
          </a:ln>
        </p:spPr>
        <p:txBody>
          <a:bodyPr anchor="ctr" anchorCtr="0"/>
          <a:lstStyle/>
          <a:p>
            <a:pPr algn="ctr"/>
            <a:r>
              <a:rPr lang="en-GB" sz="1100" dirty="0"/>
              <a:t>Summarise activity and cost variance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626D391-9D86-0FE6-1A45-0CF0DBAAFA19}"/>
              </a:ext>
            </a:extLst>
          </p:cNvPr>
          <p:cNvSpPr txBox="1"/>
          <p:nvPr/>
        </p:nvSpPr>
        <p:spPr>
          <a:xfrm>
            <a:off x="6934200" y="2362200"/>
            <a:ext cx="24193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From waiting list model</a:t>
            </a:r>
          </a:p>
        </p:txBody>
      </p: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6DEEF7B8-5FF8-D98B-F6E6-D22BE952837F}"/>
              </a:ext>
            </a:extLst>
          </p:cNvPr>
          <p:cNvCxnSpPr>
            <a:cxnSpLocks/>
            <a:stCxn id="19" idx="3"/>
            <a:endCxn id="49" idx="1"/>
          </p:cNvCxnSpPr>
          <p:nvPr/>
        </p:nvCxnSpPr>
        <p:spPr>
          <a:xfrm>
            <a:off x="9296400" y="4697028"/>
            <a:ext cx="632762" cy="47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58035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BFBC10-31D1-059C-6900-C446DBC7DC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3033" y="1031813"/>
            <a:ext cx="10515600" cy="937295"/>
          </a:xfrm>
        </p:spPr>
        <p:txBody>
          <a:bodyPr/>
          <a:lstStyle/>
          <a:p>
            <a:r>
              <a:rPr lang="en-GB" sz="3600" dirty="0"/>
              <a:t>Example outputs: Respiratory</a:t>
            </a:r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F8226230-48A6-6549-960A-A3C9B463B83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2394" y="2031268"/>
            <a:ext cx="5540582" cy="3693720"/>
          </a:xfrm>
          <a:prstGeom prst="rect">
            <a:avLst/>
          </a:prstGeom>
        </p:spPr>
      </p:pic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202DBD36-2097-8403-C259-D3CC22F507FD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783" y="2026757"/>
            <a:ext cx="5590211" cy="372680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4C0E824-7598-948B-F3AC-96EFD61A9939}"/>
              </a:ext>
            </a:extLst>
          </p:cNvPr>
          <p:cNvSpPr txBox="1"/>
          <p:nvPr/>
        </p:nvSpPr>
        <p:spPr>
          <a:xfrm>
            <a:off x="281354" y="5817997"/>
            <a:ext cx="568736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solidFill>
                  <a:srgbClr val="FF7F00"/>
                </a:solidFill>
              </a:rPr>
              <a:t>Orange lines</a:t>
            </a:r>
            <a:r>
              <a:rPr lang="en-GB" sz="1200" dirty="0"/>
              <a:t>: target waiting list size 2028/29, given forecast demand</a:t>
            </a:r>
          </a:p>
          <a:p>
            <a:r>
              <a:rPr lang="en-GB" sz="1200" dirty="0">
                <a:solidFill>
                  <a:srgbClr val="33A02C"/>
                </a:solidFill>
              </a:rPr>
              <a:t>Green</a:t>
            </a:r>
            <a:r>
              <a:rPr lang="en-GB" sz="1200" dirty="0"/>
              <a:t> and </a:t>
            </a:r>
            <a:r>
              <a:rPr lang="en-GB" sz="1200" dirty="0">
                <a:solidFill>
                  <a:srgbClr val="1F78B4"/>
                </a:solidFill>
              </a:rPr>
              <a:t>Blue</a:t>
            </a:r>
            <a:r>
              <a:rPr lang="en-GB" sz="1200" dirty="0"/>
              <a:t> lines: demographic + 1% non-demographic demand growth, </a:t>
            </a:r>
          </a:p>
          <a:p>
            <a:r>
              <a:rPr lang="en-GB" sz="1200" dirty="0">
                <a:solidFill>
                  <a:srgbClr val="1F78B4"/>
                </a:solidFill>
              </a:rPr>
              <a:t>Blue lines</a:t>
            </a:r>
            <a:r>
              <a:rPr lang="en-GB" sz="1200" dirty="0"/>
              <a:t>: ‘do nothing’ – previous 12-month median capacity</a:t>
            </a:r>
          </a:p>
          <a:p>
            <a:r>
              <a:rPr lang="en-GB" sz="1200" dirty="0">
                <a:solidFill>
                  <a:srgbClr val="33A02C"/>
                </a:solidFill>
              </a:rPr>
              <a:t>Green lines</a:t>
            </a:r>
            <a:r>
              <a:rPr lang="en-GB" sz="1200" dirty="0"/>
              <a:t>: “relief capacity” – required capacity to demand</a:t>
            </a:r>
          </a:p>
        </p:txBody>
      </p:sp>
    </p:spTree>
    <p:extLst>
      <p:ext uri="{BB962C8B-B14F-4D97-AF65-F5344CB8AC3E}">
        <p14:creationId xmlns:p14="http://schemas.microsoft.com/office/powerpoint/2010/main" val="15443537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5A5185-853F-3E10-AAC4-2DD6E5DE5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Uses so far: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ABE6E2-92EC-51B5-D2B7-385B628A078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Projections used for annual planning:</a:t>
            </a:r>
          </a:p>
          <a:p>
            <a:pPr lvl="1"/>
            <a:r>
              <a:rPr lang="en-GB" dirty="0"/>
              <a:t>Figure used to test and challenge NHSE, provider and local assumptions.</a:t>
            </a:r>
          </a:p>
          <a:p>
            <a:pPr lvl="1"/>
            <a:endParaRPr lang="en-GB" dirty="0"/>
          </a:p>
          <a:p>
            <a:r>
              <a:rPr lang="en-GB" dirty="0"/>
              <a:t>Methods used to calculate ISP activity requirements:</a:t>
            </a:r>
          </a:p>
          <a:p>
            <a:pPr lvl="1"/>
            <a:r>
              <a:rPr lang="en-GB" dirty="0"/>
              <a:t>Influenced capping and commissioning contracts</a:t>
            </a:r>
          </a:p>
          <a:p>
            <a:pPr lvl="1"/>
            <a:r>
              <a:rPr lang="en-GB" dirty="0"/>
              <a:t>Allowed inflation of lists in areas of oversupply</a:t>
            </a:r>
          </a:p>
          <a:p>
            <a:pPr lvl="1"/>
            <a:endParaRPr lang="en-GB" dirty="0"/>
          </a:p>
          <a:p>
            <a:r>
              <a:rPr lang="en-GB" dirty="0"/>
              <a:t>Impact modelling of referral management system across ICB.</a:t>
            </a:r>
          </a:p>
        </p:txBody>
      </p:sp>
    </p:spTree>
    <p:extLst>
      <p:ext uri="{BB962C8B-B14F-4D97-AF65-F5344CB8AC3E}">
        <p14:creationId xmlns:p14="http://schemas.microsoft.com/office/powerpoint/2010/main" val="18171822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D82CD7-0A82-36B8-B13F-A9AC5BABBE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1F631B-D881-97B9-217D-436754B574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Key learning points (1)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9B88A71-32B7-5C43-0F2A-F0777FFD19F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/>
              <a:t>Modelling at different aggregations lead to different outcomes:</a:t>
            </a:r>
          </a:p>
          <a:p>
            <a:pPr lvl="1"/>
            <a:r>
              <a:rPr lang="en-GB" sz="2200" dirty="0"/>
              <a:t>‘Pooling’ effects, combined with median capacity assumptions, and growth rates</a:t>
            </a:r>
          </a:p>
          <a:p>
            <a:pPr lvl="1"/>
            <a:r>
              <a:rPr lang="en-GB" sz="2200" dirty="0"/>
              <a:t>Similar to “Simpson’s Paradox”</a:t>
            </a:r>
          </a:p>
          <a:p>
            <a:endParaRPr lang="en-GB" sz="2200" dirty="0"/>
          </a:p>
          <a:p>
            <a:r>
              <a:rPr lang="en-GB" dirty="0"/>
              <a:t>Growth assumptions vary depending on situation</a:t>
            </a:r>
          </a:p>
          <a:p>
            <a:endParaRPr lang="en-GB" dirty="0"/>
          </a:p>
          <a:p>
            <a:r>
              <a:rPr lang="en-GB" dirty="0"/>
              <a:t>Additional local functions written: </a:t>
            </a:r>
          </a:p>
          <a:p>
            <a:pPr lvl="1"/>
            <a:r>
              <a:rPr lang="en-GB" dirty="0">
                <a:hlinkClick r:id="rId2"/>
              </a:rPr>
              <a:t>BBCS-PHI/</a:t>
            </a:r>
            <a:r>
              <a:rPr lang="en-GB" dirty="0" err="1">
                <a:hlinkClick r:id="rId2"/>
              </a:rPr>
              <a:t>BSOLwaitinglist</a:t>
            </a:r>
            <a:r>
              <a:rPr lang="en-GB" dirty="0">
                <a:hlinkClick r:id="rId2"/>
              </a:rPr>
              <a:t>: An R package to wrap various waiting list modelling elements together for reproducibility</a:t>
            </a:r>
            <a:endParaRPr lang="en-GB" dirty="0"/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737953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58FA4F-2CD2-29C3-529E-6F180C860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Key </a:t>
            </a:r>
            <a:r>
              <a:rPr lang="en-GB"/>
              <a:t>learning points (2)</a:t>
            </a:r>
            <a:endParaRPr lang="en-GB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53F2A2A-6EF2-F447-553A-1F8624AA18B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Statistical mechanics:</a:t>
            </a:r>
          </a:p>
          <a:p>
            <a:pPr lvl="1"/>
            <a:r>
              <a:rPr lang="en-GB" sz="2000" dirty="0"/>
              <a:t>Is point-wise confidence interval appropriate?</a:t>
            </a:r>
          </a:p>
          <a:p>
            <a:pPr lvl="1"/>
            <a:r>
              <a:rPr lang="en-GB" sz="2000" dirty="0"/>
              <a:t>M/M/1 is simplistic and for ICB use.</a:t>
            </a:r>
          </a:p>
          <a:p>
            <a:pPr lvl="1"/>
            <a:endParaRPr lang="en-GB" dirty="0"/>
          </a:p>
          <a:p>
            <a:r>
              <a:rPr lang="en-GB" dirty="0"/>
              <a:t>Our ICB is not equipped to deliver this type of modelling:</a:t>
            </a:r>
          </a:p>
          <a:p>
            <a:pPr lvl="1"/>
            <a:r>
              <a:rPr lang="en-GB" sz="2000" dirty="0"/>
              <a:t>Compute infrastructure is lacking</a:t>
            </a:r>
          </a:p>
          <a:p>
            <a:pPr lvl="1"/>
            <a:r>
              <a:rPr lang="en-GB" sz="2000" dirty="0"/>
              <a:t>Consumer curiosity is lacking</a:t>
            </a:r>
          </a:p>
          <a:p>
            <a:pPr lvl="1"/>
            <a:r>
              <a:rPr lang="en-GB" sz="2000" dirty="0"/>
              <a:t>Front-end development barrier</a:t>
            </a:r>
          </a:p>
          <a:p>
            <a:pPr lvl="1"/>
            <a:r>
              <a:rPr lang="en-GB" sz="2000" dirty="0"/>
              <a:t>Planning is incentive is to match NHSE, not produce local estimates</a:t>
            </a:r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664902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E02E31-198A-3C0B-F3B6-F0A9E54F96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Reuse and sharing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59F7C1-41FF-D965-C3E5-D382DB798C3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GB" dirty="0"/>
              <a:t>Built on </a:t>
            </a:r>
            <a:r>
              <a:rPr lang="en-GB" b="1" i="1" dirty="0" err="1"/>
              <a:t>NHSRwaitinglist</a:t>
            </a:r>
            <a:r>
              <a:rPr lang="en-GB" dirty="0"/>
              <a:t> package and SUS data</a:t>
            </a:r>
          </a:p>
          <a:p>
            <a:r>
              <a:rPr lang="en-GB" dirty="0"/>
              <a:t>Local modifications:  </a:t>
            </a:r>
            <a:r>
              <a:rPr lang="en-GB" dirty="0">
                <a:hlinkClick r:id="rId2"/>
              </a:rPr>
              <a:t>GitHub</a:t>
            </a:r>
            <a:endParaRPr lang="en-GB" dirty="0"/>
          </a:p>
          <a:p>
            <a:r>
              <a:rPr lang="en-GB" dirty="0"/>
              <a:t>Modelling scripts / functions published – ISP</a:t>
            </a:r>
          </a:p>
          <a:p>
            <a:endParaRPr lang="en-GB" dirty="0"/>
          </a:p>
          <a:p>
            <a:r>
              <a:rPr lang="en-GB" dirty="0"/>
              <a:t>Technical bar or transparency?</a:t>
            </a:r>
          </a:p>
          <a:p>
            <a:r>
              <a:rPr lang="en-GB" dirty="0"/>
              <a:t>Now needs work to “productionise”</a:t>
            </a:r>
          </a:p>
        </p:txBody>
      </p:sp>
    </p:spTree>
    <p:extLst>
      <p:ext uri="{BB962C8B-B14F-4D97-AF65-F5344CB8AC3E}">
        <p14:creationId xmlns:p14="http://schemas.microsoft.com/office/powerpoint/2010/main" val="18466671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EC3B17-FA96-0C54-F74B-3CC1975A95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33149"/>
            <a:ext cx="10515600" cy="870659"/>
          </a:xfrm>
        </p:spPr>
        <p:txBody>
          <a:bodyPr/>
          <a:lstStyle/>
          <a:p>
            <a:r>
              <a:rPr lang="en-GB" sz="4000" dirty="0"/>
              <a:t>Conclusions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7D3F3D-DFA2-549E-31FF-08043328DB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303189"/>
            <a:ext cx="7913914" cy="3873774"/>
          </a:xfrm>
        </p:spPr>
        <p:txBody>
          <a:bodyPr>
            <a:normAutofit fontScale="92500"/>
          </a:bodyPr>
          <a:lstStyle/>
          <a:p>
            <a:r>
              <a:rPr lang="en-GB" dirty="0"/>
              <a:t>Theoretically driven waiting list forecast</a:t>
            </a:r>
          </a:p>
          <a:p>
            <a:r>
              <a:rPr lang="en-GB" dirty="0"/>
              <a:t>Activity assumptions made based on recent data</a:t>
            </a:r>
          </a:p>
          <a:p>
            <a:r>
              <a:rPr lang="en-GB" dirty="0"/>
              <a:t>Data quality issues, but sufficient for planning</a:t>
            </a:r>
          </a:p>
          <a:p>
            <a:r>
              <a:rPr lang="en-GB" dirty="0"/>
              <a:t>Based on assumptions, but what assumptions are ‘right?’</a:t>
            </a:r>
          </a:p>
          <a:p>
            <a:endParaRPr lang="en-GB" dirty="0"/>
          </a:p>
          <a:p>
            <a:r>
              <a:rPr lang="en-GB" dirty="0"/>
              <a:t>Open-source tools and code.</a:t>
            </a:r>
          </a:p>
          <a:p>
            <a:r>
              <a:rPr lang="en-GB" dirty="0"/>
              <a:t>Get involved and help build it!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BF2EAAF-9BFE-A48D-FF9F-DC503477CC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70306" y="2436679"/>
            <a:ext cx="2619805" cy="2619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19787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NHS colour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3087"/>
      </a:accent1>
      <a:accent2>
        <a:srgbClr val="005EB8"/>
      </a:accent2>
      <a:accent3>
        <a:srgbClr val="41B6E6"/>
      </a:accent3>
      <a:accent4>
        <a:srgbClr val="006747"/>
      </a:accent4>
      <a:accent5>
        <a:srgbClr val="ED8B00"/>
      </a:accent5>
      <a:accent6>
        <a:srgbClr val="8A1538"/>
      </a:accent6>
      <a:hlink>
        <a:srgbClr val="78BE20"/>
      </a:hlink>
      <a:folHlink>
        <a:srgbClr val="3300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owerpoint.pptx" id="{3BFE0F14-4F4D-45A0-A74D-FCBED54D6C63}" vid="{77CC92F6-28F9-40AD-83BD-059351A83F6B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lcf76f155ced4ddcb4097134ff3c332f xmlns="27be8cb2-af3b-44cd-b759-d0babebf2517">
      <Terms xmlns="http://schemas.microsoft.com/office/infopath/2007/PartnerControls"/>
    </lcf76f155ced4ddcb4097134ff3c332f>
    <_ip_UnifiedCompliancePolicyProperties xmlns="http://schemas.microsoft.com/sharepoint/v3" xsi:nil="true"/>
    <TaxCatchAll xmlns="a2c12240-6528-4ab5-bf68-6c26ac851fb8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124DC5E1DC7F045AF9B682B0B3BA6A5" ma:contentTypeVersion="20" ma:contentTypeDescription="Create a new document." ma:contentTypeScope="" ma:versionID="5ba737a093c963e1e5a9a0a2b2c216c9">
  <xsd:schema xmlns:xsd="http://www.w3.org/2001/XMLSchema" xmlns:xs="http://www.w3.org/2001/XMLSchema" xmlns:p="http://schemas.microsoft.com/office/2006/metadata/properties" xmlns:ns1="http://schemas.microsoft.com/sharepoint/v3" xmlns:ns2="a2c12240-6528-4ab5-bf68-6c26ac851fb8" xmlns:ns3="27be8cb2-af3b-44cd-b759-d0babebf2517" targetNamespace="http://schemas.microsoft.com/office/2006/metadata/properties" ma:root="true" ma:fieldsID="97b81447ca43e9f2a9d845c8a1598cba" ns1:_="" ns2:_="" ns3:_="">
    <xsd:import namespace="http://schemas.microsoft.com/sharepoint/v3"/>
    <xsd:import namespace="a2c12240-6528-4ab5-bf68-6c26ac851fb8"/>
    <xsd:import namespace="27be8cb2-af3b-44cd-b759-d0babebf2517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LengthInSeconds" minOccurs="0"/>
                <xsd:element ref="ns1:_ip_UnifiedCompliancePolicyProperties" minOccurs="0"/>
                <xsd:element ref="ns1:_ip_UnifiedCompliancePolicyUIAction" minOccurs="0"/>
                <xsd:element ref="ns3:MediaServiceLocation" minOccurs="0"/>
                <xsd:element ref="ns3:lcf76f155ced4ddcb4097134ff3c332f" minOccurs="0"/>
                <xsd:element ref="ns2:TaxCatchAll" minOccurs="0"/>
                <xsd:element ref="ns3:MediaServiceObjectDetectorVersion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2c12240-6528-4ab5-bf68-6c26ac851fb8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5" nillable="true" ma:displayName="Taxonomy Catch All Column" ma:hidden="true" ma:list="{1a7c4657-0e6e-41d3-bd3c-abb5f847f625}" ma:internalName="TaxCatchAll" ma:showField="CatchAllData" ma:web="a2c12240-6528-4ab5-bf68-6c26ac851fb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7be8cb2-af3b-44cd-b759-d0babebf251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2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4" nillable="true" ma:taxonomy="true" ma:internalName="lcf76f155ced4ddcb4097134ff3c332f" ma:taxonomyFieldName="MediaServiceImageTags" ma:displayName="Image Tags" ma:readOnly="false" ma:fieldId="{5cf76f15-5ced-4ddc-b409-7134ff3c332f}" ma:taxonomyMulti="true" ma:sspId="2c8d5fda-b97d-42c6-97e2-f76465e161c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7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5DE4138-64FB-4C58-8D14-0E71099301E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CD12FA5-A3A6-4C9B-8CF6-6B825AC9BA4F}">
  <ds:schemaRefs>
    <ds:schemaRef ds:uri="27be8cb2-af3b-44cd-b759-d0babebf2517"/>
    <ds:schemaRef ds:uri="a2c12240-6528-4ab5-bf68-6c26ac851fb8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E20BA64C-3BFF-4030-A9AE-5423339F817A}">
  <ds:schemaRefs>
    <ds:schemaRef ds:uri="27be8cb2-af3b-44cd-b759-d0babebf2517"/>
    <ds:schemaRef ds:uri="a2c12240-6528-4ab5-bf68-6c26ac851fb8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BBCS</Template>
  <TotalTime>0</TotalTime>
  <Words>902</Words>
  <Application>Microsoft Office PowerPoint</Application>
  <PresentationFormat>Widescreen</PresentationFormat>
  <Paragraphs>149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Cambria Math</vt:lpstr>
      <vt:lpstr>Open Sans</vt:lpstr>
      <vt:lpstr>Office Theme</vt:lpstr>
      <vt:lpstr>Using Queuing Theory and Simulation in NHS Planning: Applying the NHSRWaitinglist R Package</vt:lpstr>
      <vt:lpstr>NHSRwaitinglist:</vt:lpstr>
      <vt:lpstr>Example</vt:lpstr>
      <vt:lpstr>Get involved!</vt:lpstr>
      <vt:lpstr>Application in BBCS ICB</vt:lpstr>
      <vt:lpstr>Methods</vt:lpstr>
      <vt:lpstr>Model foundations (1)</vt:lpstr>
      <vt:lpstr>Distribution of waiting list</vt:lpstr>
      <vt:lpstr>Three useful formulae:</vt:lpstr>
      <vt:lpstr>Model foundations (2)</vt:lpstr>
      <vt:lpstr>Waiting list simulation approach</vt:lpstr>
      <vt:lpstr>Activity attribution approach (ICB commissioned patients only)</vt:lpstr>
      <vt:lpstr>Example outputs: Respiratory</vt:lpstr>
      <vt:lpstr>Uses so far:</vt:lpstr>
      <vt:lpstr>Key learning points (1)</vt:lpstr>
      <vt:lpstr>Key learning points (2)</vt:lpstr>
      <vt:lpstr>Reuse and sharing</vt:lpstr>
      <vt:lpstr>Conclusions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 Mainey (Birmingham and Solihull ICB)</dc:creator>
  <cp:lastModifiedBy>Chris Mainey (Birmingham and Solihull ICB)</cp:lastModifiedBy>
  <cp:revision>2</cp:revision>
  <dcterms:created xsi:type="dcterms:W3CDTF">2026-08-28T08:12:45Z</dcterms:created>
  <dcterms:modified xsi:type="dcterms:W3CDTF">2026-09-17T07:21:42Z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0x010100D124DC5E1DC7F045AF9B682B0B3BA6A5</vt:lpwstr>
  </property>
  <property fmtid="{D5CDD505-2E9C-101B-9397-08002B2CF9AE}" pid="3" name="MediaServiceImageTags">
    <vt:lpwstr/>
  </property>
</Properties>
</file>